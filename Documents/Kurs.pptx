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7" r:id="rId4"/>
    <p:sldId id="258" r:id="rId5"/>
    <p:sldId id="259" r:id="rId6"/>
    <p:sldId id="261" r:id="rId7"/>
    <p:sldId id="260" r:id="rId8"/>
    <p:sldId id="263" r:id="rId9"/>
    <p:sldId id="279" r:id="rId10"/>
    <p:sldId id="278" r:id="rId11"/>
    <p:sldId id="276" r:id="rId12"/>
    <p:sldId id="271" r:id="rId13"/>
    <p:sldId id="270" r:id="rId14"/>
    <p:sldId id="27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66FF66"/>
    <a:srgbClr val="66FF33"/>
    <a:srgbClr val="009900"/>
    <a:srgbClr val="00CC00"/>
    <a:srgbClr val="00FF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17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719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18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13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68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001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61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246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26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13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6FBC-C778-48D7-A491-5C71BB0155B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B593C-4DC0-498C-B300-D45769532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668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495821" y="1714887"/>
            <a:ext cx="9144000" cy="2387600"/>
          </a:xfrm>
        </p:spPr>
        <p:txBody>
          <a:bodyPr anchor="b">
            <a:normAutofit/>
          </a:bodyPr>
          <a:lstStyle/>
          <a:p>
            <a:pPr algn="l"/>
            <a:r>
              <a:rPr lang="en-US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2D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Игровой Движок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96419" y="4842587"/>
            <a:ext cx="655735" cy="1655762"/>
          </a:xfrm>
        </p:spPr>
        <p:txBody>
          <a:bodyPr anchor="b">
            <a:normAutofit/>
          </a:bodyPr>
          <a:lstStyle/>
          <a:p>
            <a:pPr algn="l"/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sz="28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6419" y="483781"/>
            <a:ext cx="120060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Презентация дипломного проекта </a:t>
            </a:r>
            <a:r>
              <a:rPr lang="en-US" sz="20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[version 18.01.2026]</a:t>
            </a:r>
            <a:endParaRPr lang="ru-RU" sz="20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  <a:p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  <a:p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(c)	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Компьютерная академия </a:t>
            </a:r>
            <a:r>
              <a:rPr lang="en-US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Top (Top Computer Academy). 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Все права защищены.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96419" y="3489551"/>
            <a:ext cx="24994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project_name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sz="28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6101" y="701991"/>
            <a:ext cx="184731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38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902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70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904"/>
                            </p:stCondLst>
                            <p:childTnLst>
                              <p:par>
                                <p:cTn id="23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5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 build="p"/>
      <p:bldP spid="4" grpId="0"/>
      <p:bldP spid="7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8953" y="2671565"/>
            <a:ext cx="10515600" cy="94874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Реализовать среду разработки для создания игр и приложений на языке программирования </a:t>
            </a: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C++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, с использованием библиотеки </a:t>
            </a: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OpenGL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.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1018953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Неформализованное задание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18953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PRINT_TEXT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20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65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6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90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104"/>
                            </p:stCondLst>
                            <p:childTnLst>
                              <p:par>
                                <p:cTn id="23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  <p:bldP spid="16" grpId="0"/>
      <p:bldP spid="17" grpId="0"/>
      <p:bldP spid="20" grpId="0" build="p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8953" y="2671564"/>
            <a:ext cx="10515600" cy="3228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Реализовать среду разработки, включающую в себя готовые компоненты для:</a:t>
            </a:r>
          </a:p>
          <a:p>
            <a:pPr marL="514350" indent="-514350"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Рендера изображений (загрузка, хранение, настройка, вывод)</a:t>
            </a:r>
          </a:p>
          <a:p>
            <a:pPr marL="514350" indent="-514350"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Создания приложений (</a:t>
            </a: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Game, </a:t>
            </a:r>
            <a:r>
              <a:rPr lang="en-US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GameObject</a:t>
            </a: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, Area2D 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и </a:t>
            </a:r>
            <a:r>
              <a:rPr lang="ru-RU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т.д</a:t>
            </a: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.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)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1018953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Формализованное задание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18953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PRINT_TEXT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20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24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4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3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704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805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6"/>
                            </p:stCondLst>
                            <p:childTnLst>
                              <p:par>
                                <p:cTn id="29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16" grpId="0"/>
      <p:bldP spid="17" grpId="0"/>
      <p:bldP spid="20" grpId="0" build="p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01895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Содержание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PRINT_TEXT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4" name="Объект 2"/>
          <p:cNvSpPr>
            <a:spLocks noGrp="1"/>
          </p:cNvSpPr>
          <p:nvPr>
            <p:ph idx="1"/>
          </p:nvPr>
        </p:nvSpPr>
        <p:spPr>
          <a:xfrm>
            <a:off x="1018953" y="2671564"/>
            <a:ext cx="10515600" cy="3220277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70000"/>
              </a:lnSpc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Введение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Технологии для реализации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Варианты использования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Архитектура проекта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Пример 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работы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Сравнение результатов</a:t>
            </a:r>
            <a:endParaRPr lang="ru-RU" dirty="0" smtClean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  <a:p>
            <a:pPr marL="514350" indent="-514350">
              <a:lnSpc>
                <a:spcPct val="70000"/>
              </a:lnSpc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Планы по развитию проекта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Заключение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23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1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80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4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5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706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807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708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809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71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911"/>
                            </p:stCondLst>
                            <p:childTnLst>
                              <p:par>
                                <p:cTn id="44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6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 build="p"/>
      <p:bldP spid="11" grpId="0"/>
      <p:bldP spid="1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101895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Введение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PRINT_TEXT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18953" y="2671564"/>
            <a:ext cx="10515600" cy="280620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Используя C++ в сочетании с </a:t>
            </a:r>
            <a:r>
              <a:rPr lang="ru-RU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OpenGL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, мы можем добиться высокой производительности и гибкости, что особенно актуально для проектов с интенсивной графикой. Своей целью данный проект ставит </a:t>
            </a:r>
            <a:r>
              <a:rPr lang="ru-RU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добиться модульных решений, позволяющих 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сфокусироваться </a:t>
            </a:r>
            <a:r>
              <a:rPr lang="ru-RU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на креативных 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аспектах.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18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9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3"/>
                            </p:stCondLst>
                            <p:childTnLst>
                              <p:par>
                                <p:cTn id="20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103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build="p"/>
      <p:bldP spid="9" grpId="0"/>
      <p:bldP spid="10" grpId="0"/>
      <p:bldP spid="1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0494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Технологии для реализации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96419" y="2548787"/>
            <a:ext cx="10515600" cy="292107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ru-RU" sz="2800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++ —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язык программирования</a:t>
            </a:r>
            <a:endParaRPr lang="ru-RU" sz="28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ru-RU" sz="2800" dirty="0" err="1">
                <a:latin typeface="Epilepsy Sans" pitchFamily="2" charset="0"/>
                <a:ea typeface="Epilepsy Sans" pitchFamily="2" charset="0"/>
                <a:cs typeface="Epilepsy Sans" pitchFamily="2" charset="0"/>
              </a:rPr>
              <a:t>OpenGL</a:t>
            </a:r>
            <a:r>
              <a:rPr lang="ru-RU" sz="2800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3.3+ / GLAD — графический рендеринг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ru-RU" sz="2800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GLFW — 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создание шейдеров</a:t>
            </a:r>
            <a:endParaRPr lang="ru-RU" sz="28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ru-RU" sz="2800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GLM — математические операции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ru-RU" sz="2800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STB </a:t>
            </a:r>
            <a:r>
              <a:rPr lang="ru-RU" sz="2800" dirty="0" err="1">
                <a:latin typeface="Epilepsy Sans" pitchFamily="2" charset="0"/>
                <a:ea typeface="Epilepsy Sans" pitchFamily="2" charset="0"/>
                <a:cs typeface="Epilepsy Sans" pitchFamily="2" charset="0"/>
              </a:rPr>
              <a:t>Image</a:t>
            </a:r>
            <a:r>
              <a:rPr lang="ru-RU" sz="2800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— загрузка 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текстур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FreeType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– 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рендер текста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irrKlang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– 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обработка звука</a:t>
            </a:r>
            <a:endParaRPr lang="en-US" sz="2800" dirty="0" smtClean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PRINT_LIST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3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60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804"/>
                            </p:stCondLst>
                            <p:childTnLst>
                              <p:par>
                                <p:cTn id="23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/>
      <p:bldP spid="9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10494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Варианты использования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OUTPUT_IMAGE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36" y="2029546"/>
            <a:ext cx="3792328" cy="380570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148" y="2029546"/>
            <a:ext cx="2032940" cy="137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80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3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603"/>
                            </p:stCondLst>
                            <p:childTnLst>
                              <p:par>
                                <p:cTn id="20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603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103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  <p:bldP spid="9" grpId="0"/>
      <p:bldP spid="10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10494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Архитектура проекта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OUTPUT_IMAGE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595" y="1952703"/>
            <a:ext cx="7163791" cy="395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4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1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303"/>
                            </p:stCondLst>
                            <p:childTnLst>
                              <p:par>
                                <p:cTn id="20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303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10494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Пример работы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OUTPUT_IMAGE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36" y="2065935"/>
            <a:ext cx="4734003" cy="373292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522" y="2065935"/>
            <a:ext cx="4732817" cy="373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6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4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703"/>
                            </p:stCondLst>
                            <p:childTnLst>
                              <p:par>
                                <p:cTn id="20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703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203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  <p:bldP spid="9" grpId="0"/>
      <p:bldP spid="10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10494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Сравнение результатов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OUTPUT_IMAGE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489" y="1988704"/>
            <a:ext cx="5198252" cy="3887389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276" y="4127797"/>
            <a:ext cx="5046805" cy="174829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276" y="1988704"/>
            <a:ext cx="5016277" cy="21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9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2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3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503"/>
                            </p:stCondLst>
                            <p:childTnLst>
                              <p:par>
                                <p:cTn id="20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503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3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  <p:bldP spid="9" grpId="0"/>
      <p:bldP spid="10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10494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Планы по развитию проекта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PRINT_LIST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18953" y="2671565"/>
            <a:ext cx="10515600" cy="31167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Добавить 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систему симуляции физики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Добавить новые элементы управления (</a:t>
            </a: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button, camera 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и </a:t>
            </a:r>
            <a:r>
              <a:rPr lang="ru-RU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т.д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)</a:t>
            </a:r>
            <a:endParaRPr lang="ru-RU" dirty="0" smtClean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  <a:p>
            <a:pPr marL="514350" indent="-514350">
              <a:buFont typeface="+mj-lt"/>
              <a:buAutoNum type="arabicParenR"/>
            </a:pP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43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4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3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20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104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305"/>
                            </p:stCondLst>
                            <p:childTnLst>
                              <p:par>
                                <p:cTn id="26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  <p:bldP spid="8" grpId="0"/>
      <p:bldP spid="9" grpId="0"/>
      <p:bldP spid="11" grpId="0"/>
      <p:bldP spid="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10494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Заключение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PRINT_TEXT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idx="1"/>
          </p:nvPr>
        </p:nvSpPr>
        <p:spPr>
          <a:xfrm>
            <a:off x="1018953" y="2671564"/>
            <a:ext cx="10515600" cy="25902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Был разработан полноценный 2D игровой движок на C++, который демонстрирует: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Модульную </a:t>
            </a:r>
            <a:r>
              <a:rPr lang="ru-RU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архитектуру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Работу </a:t>
            </a:r>
            <a:r>
              <a:rPr lang="ru-RU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группы технологий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Готовую </a:t>
            </a:r>
            <a:r>
              <a:rPr lang="ru-RU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игру-пример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73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1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60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04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605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306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507"/>
                            </p:stCondLst>
                            <p:childTnLst>
                              <p:par>
                                <p:cTn id="32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  <p:bldP spid="8" grpId="0"/>
      <p:bldP spid="9" grpId="0"/>
      <p:bldP spid="10" grpId="0" build="p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10494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Использованный материал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PRINT_TEXT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1018953" y="2671564"/>
            <a:ext cx="10515600" cy="2056927"/>
          </a:xfrm>
        </p:spPr>
        <p:txBody>
          <a:bodyPr>
            <a:no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Книга </a:t>
            </a:r>
            <a:r>
              <a:rPr lang="en-US" b="1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Learn OpenGL</a:t>
            </a: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(J. de </a:t>
            </a:r>
            <a:r>
              <a:rPr lang="en-US" dirty="0" err="1">
                <a:latin typeface="Epilepsy Sans" pitchFamily="2" charset="0"/>
                <a:ea typeface="Epilepsy Sans" pitchFamily="2" charset="0"/>
                <a:cs typeface="Epilepsy Sans" pitchFamily="2" charset="0"/>
              </a:rPr>
              <a:t>Vries</a:t>
            </a:r>
            <a:r>
              <a:rPr lang="en-US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, </a:t>
            </a:r>
            <a:r>
              <a:rPr lang="ru-RU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онлайновое издание, 2022 г</a:t>
            </a: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.)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Документация </a:t>
            </a:r>
            <a:r>
              <a:rPr lang="en-US" b="1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OpenGL </a:t>
            </a:r>
            <a:r>
              <a:rPr lang="en-US" b="1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API </a:t>
            </a:r>
            <a:r>
              <a:rPr lang="en-US" b="1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Specification</a:t>
            </a: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(The </a:t>
            </a:r>
            <a:r>
              <a:rPr lang="en-US" dirty="0" err="1">
                <a:latin typeface="Epilepsy Sans" pitchFamily="2" charset="0"/>
                <a:ea typeface="Epilepsy Sans" pitchFamily="2" charset="0"/>
                <a:cs typeface="Epilepsy Sans" pitchFamily="2" charset="0"/>
              </a:rPr>
              <a:t>Khronos</a:t>
            </a:r>
            <a:r>
              <a:rPr lang="en-US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Group, </a:t>
            </a:r>
            <a:r>
              <a:rPr lang="ru-RU" dirty="0" err="1">
                <a:latin typeface="Epilepsy Sans" pitchFamily="2" charset="0"/>
                <a:ea typeface="Epilepsy Sans" pitchFamily="2" charset="0"/>
                <a:cs typeface="Epilepsy Sans" pitchFamily="2" charset="0"/>
              </a:rPr>
              <a:t>н.д</a:t>
            </a:r>
            <a:r>
              <a:rPr lang="ru-RU" dirty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87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4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30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65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404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9605"/>
                            </p:stCondLst>
                            <p:childTnLst>
                              <p:par>
                                <p:cTn id="26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  <p:bldP spid="9" grpId="0"/>
      <p:bldP spid="10" grpId="0"/>
      <p:bldP spid="11" grpId="0" build="p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10494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slide_name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 </a:t>
            </a:r>
            <a:r>
              <a:rPr lang="ru-RU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Конец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996419" y="4842587"/>
            <a:ext cx="655735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:\&gt;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2154" y="6276532"/>
            <a:ext cx="195887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…</a:t>
            </a:r>
            <a:endParaRPr lang="ru-RU" sz="100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1018953" y="91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command:\&gt;</a:t>
            </a:r>
            <a:r>
              <a:rPr lang="ru-RU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 </a:t>
            </a:r>
            <a:r>
              <a:rPr lang="en-US" sz="2800" dirty="0" smtClean="0">
                <a:latin typeface="Epilepsy Sans Bold" pitchFamily="2" charset="0"/>
                <a:ea typeface="Epilepsy Sans Bold" pitchFamily="2" charset="0"/>
                <a:cs typeface="Epilepsy Sans Bold" pitchFamily="2" charset="0"/>
              </a:rPr>
              <a:t>PRINT_TEXT</a:t>
            </a:r>
            <a:endParaRPr lang="ru-RU" dirty="0">
              <a:latin typeface="Epilepsy Sans Bold" pitchFamily="2" charset="0"/>
              <a:ea typeface="Epilepsy Sans Bold" pitchFamily="2" charset="0"/>
              <a:cs typeface="Epilepsy Sans Bold" pitchFamily="2" charset="0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18953" y="2671564"/>
            <a:ext cx="10515600" cy="20569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Спасибо за внимание…</a:t>
            </a:r>
            <a:endParaRPr lang="ru-RU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18954" y="797328"/>
            <a:ext cx="211282" cy="1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" dirty="0" err="1" smtClean="0">
                <a:latin typeface="Epilepsy Sans" pitchFamily="2" charset="0"/>
                <a:ea typeface="Epilepsy Sans" pitchFamily="2" charset="0"/>
                <a:cs typeface="Epilepsy Sans" pitchFamily="2" charset="0"/>
              </a:rPr>
              <a:t>ююю</a:t>
            </a:r>
            <a:endParaRPr lang="ru-RU" sz="100" dirty="0">
              <a:latin typeface="Epilepsy Sans" pitchFamily="2" charset="0"/>
              <a:ea typeface="Epilepsy Sans" pitchFamily="2" charset="0"/>
              <a:cs typeface="Epileps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03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5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45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15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354"/>
                            </p:stCondLst>
                            <p:childTnLst>
                              <p:par>
                                <p:cTn id="23" presetID="27" presetClass="emph" presetSubtype="0" repeatCount="indefinite" fill="remove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  <p:bldP spid="8" grpId="0"/>
      <p:bldP spid="11" grpId="0"/>
      <p:bldP spid="12" grpId="0" build="p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1804</TotalTime>
  <Words>367</Words>
  <Application>Microsoft Office PowerPoint</Application>
  <PresentationFormat>Широкоэкранный</PresentationFormat>
  <Paragraphs>101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Epilepsy Sans</vt:lpstr>
      <vt:lpstr>Epilepsy Sans Bold</vt:lpstr>
      <vt:lpstr>Office Theme</vt:lpstr>
      <vt:lpstr>2D Игровой Движок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</dc:creator>
  <cp:lastModifiedBy>Егор Бурдинский</cp:lastModifiedBy>
  <cp:revision>295</cp:revision>
  <dcterms:created xsi:type="dcterms:W3CDTF">2025-03-23T09:12:50Z</dcterms:created>
  <dcterms:modified xsi:type="dcterms:W3CDTF">2026-02-15T00:01:13Z</dcterms:modified>
</cp:coreProperties>
</file>